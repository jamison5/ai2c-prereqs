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5143500" cx="9144000"/>
  <p:notesSz cx="6858000" cy="9144000"/>
  <p:embeddedFontLst>
    <p:embeddedFont>
      <p:font typeface="Play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lay-regular.fntdata"/><Relationship Id="rId50" Type="http://schemas.openxmlformats.org/officeDocument/2006/relationships/slide" Target="slides/slide43.xml"/><Relationship Id="rId52" Type="http://schemas.openxmlformats.org/officeDocument/2006/relationships/font" Target="fonts/Play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4a009736c_2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64a009736c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4a009736c_2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64a009736c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4a009736c_2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64a009736c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4a009736c_2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64a009736c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4a009736c_2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64a009736c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a009736c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64a009736c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a009736c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64a009736c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a009736c_2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64a009736c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a009736c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4a009736c_2_1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4a009736c_2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4a009736c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a009736c_2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64a009736c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a009736c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64a009736c_2_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64a009736c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64a009736c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64a009736c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64a009736c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64a009736c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64a009736c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64a009736c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64a009736c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64a009736c_2_1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64a009736c_2_1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4a009736c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64a009736c_2_1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4a009736c_2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64a009736c_2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4a009736c_2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64a009736c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4a009736c_2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64a009736c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4a009736c_2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64a009736c_2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4a009736c_2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64a009736c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64a009736c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64a009736c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64a009736c_2_2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4a009736c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64a009736c_2_2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64a009736c_2_2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4a009736c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64a009736c_2_2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64a009736c_2_2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4a009736c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64a009736c_2_2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64a009736c_2_2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64a009736c_2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364a009736c_2_2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64a009736c_2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64a009736c_2_2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4a009736c_2_2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64a009736c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64a009736c_2_2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4a009736c_2_2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64a009736c_2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64a009736c_2_2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4a009736c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64a009736c_2_3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4a009736c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64a009736c_2_3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4a009736c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64a009736c_2_3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indent="-29845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cs.python.org/3/library/stdtypes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shafe123/AI2C-Prereqs.gi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ctrTitle"/>
          </p:nvPr>
        </p:nvSpPr>
        <p:spPr>
          <a:xfrm>
            <a:off x="1143000" y="2025114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"/>
              <a:t>Admin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graphicFrame>
        <p:nvGraphicFramePr>
          <p:cNvPr id="140" name="Google Shape;140;p27"/>
          <p:cNvGraphicFramePr/>
          <p:nvPr/>
        </p:nvGraphicFramePr>
        <p:xfrm>
          <a:off x="53286" y="105143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943625"/>
                <a:gridCol w="972200"/>
                <a:gridCol w="1631925"/>
                <a:gridCol w="1475675"/>
                <a:gridCol w="40140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Date</a:t>
                      </a:r>
                      <a:endParaRPr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Day</a:t>
                      </a:r>
                      <a:endParaRPr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Time</a:t>
                      </a:r>
                      <a:endParaRPr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Topic</a:t>
                      </a:r>
                      <a:endParaRPr sz="1350" u="none" cap="none" strike="noStrike"/>
                    </a:p>
                  </a:txBody>
                  <a:tcPr marT="9525" marB="45725" marR="9525" marL="9525" anchor="b"/>
                </a:tc>
              </a:tr>
              <a:tr h="2236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14-Jul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Monday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Intros/Ice Breaker, Environment Setup, and Python Basics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highlight>
                            <a:srgbClr val="FFFF00"/>
                          </a:highlight>
                        </a:rPr>
                        <a:t>15-Jul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highlight>
                            <a:srgbClr val="FFFF00"/>
                          </a:highlight>
                        </a:rPr>
                        <a:t>Tuesday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Networking Basics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Friday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Linux and Git Basics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21-Jul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Monday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Conditional Statements, Error Handling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highlight>
                            <a:srgbClr val="FFFF00"/>
                          </a:highlight>
                        </a:rPr>
                        <a:t>22-Jul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highlight>
                            <a:srgbClr val="FFFF00"/>
                          </a:highlight>
                        </a:rPr>
                        <a:t>Tuesday</a:t>
                      </a:r>
                      <a:endParaRPr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 sz="120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 sz="120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File I/O and Git</a:t>
                      </a:r>
                      <a:endParaRPr sz="1200" u="none" cap="none" strike="noStrike"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23-Jul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Wednesday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IPv4 and Subnetting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28-Jul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Monday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Writing Clean Code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30-Jul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Wednesday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Cloud Computing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1-Aug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Friday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9:00:00 AM - UTC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AI2C Conference Room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Algorithms and Data Structures (Lists, Dictionaries, Sets), Python OOP</a:t>
                      </a:r>
                      <a:endParaRPr/>
                    </a:p>
                  </a:txBody>
                  <a:tcPr marT="9525" marB="45725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graphicFrame>
        <p:nvGraphicFramePr>
          <p:cNvPr id="146" name="Google Shape;146;p28"/>
          <p:cNvGraphicFramePr/>
          <p:nvPr/>
        </p:nvGraphicFramePr>
        <p:xfrm>
          <a:off x="196917" y="128419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910875"/>
                <a:gridCol w="1044850"/>
                <a:gridCol w="1474575"/>
                <a:gridCol w="2064425"/>
                <a:gridCol w="3255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Date</a:t>
                      </a:r>
                      <a:endParaRPr b="1"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Day</a:t>
                      </a:r>
                      <a:endParaRPr b="1"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Time</a:t>
                      </a:r>
                      <a:endParaRPr b="1"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b="1" sz="1350" u="none" cap="none" strike="noStrike"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rgbClr val="31394D"/>
                          </a:solidFill>
                        </a:rPr>
                        <a:t>Topic</a:t>
                      </a:r>
                      <a:endParaRPr b="1" sz="1350" u="none" cap="none" strike="noStrike"/>
                    </a:p>
                  </a:txBody>
                  <a:tcPr marT="9525" marB="457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4-Aug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NumPy, Pandas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6-Aug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Cloud Resources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8-Aug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Handling command-line arguments and Kubernetes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11-Aug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AI/ML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13-Aug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DevOps/CICD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15-Aug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Small Project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18-Aug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CMU Orientation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20-Aug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22-Aug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Summer Graduation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25-Aug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31394D"/>
                          </a:solidFill>
                        </a:rPr>
                        <a:t>Classes Begin</a:t>
                      </a:r>
                      <a:endParaRPr sz="1200" u="none" cap="none" strike="noStrike">
                        <a:solidFill>
                          <a:srgbClr val="31394D"/>
                        </a:solidFill>
                      </a:endParaRPr>
                    </a:p>
                  </a:txBody>
                  <a:tcPr marT="10950" marB="52575" marR="10950" marL="1095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Today's Schedule</a:t>
            </a:r>
            <a:br>
              <a:rPr lang="en"/>
            </a:br>
            <a:endParaRPr/>
          </a:p>
        </p:txBody>
      </p:sp>
      <p:graphicFrame>
        <p:nvGraphicFramePr>
          <p:cNvPr id="152" name="Google Shape;152;p29"/>
          <p:cNvGraphicFramePr/>
          <p:nvPr/>
        </p:nvGraphicFramePr>
        <p:xfrm>
          <a:off x="2011680" y="16417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{AA323327-17F7-4230-B99A-3A7D3BBB913F}</a:tableStyleId>
              </a:tblPr>
              <a:tblGrid>
                <a:gridCol w="2560325"/>
                <a:gridCol w="2560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u="none" cap="none" strike="noStrike"/>
                        <a:t>Time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Event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0900-0930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" sz="1400" u="none" strike="noStrike">
                          <a:solidFill>
                            <a:srgbClr val="3139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Icebreaker and Intros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0930-1200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Lesson 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1200-1300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Lunch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1300-1500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Laptop/Environment troubleshooting and Lesson 1 Practice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1</a:t>
            </a:r>
            <a:endParaRPr/>
          </a:p>
        </p:txBody>
      </p:sp>
      <p:graphicFrame>
        <p:nvGraphicFramePr>
          <p:cNvPr id="158" name="Google Shape;158;p30"/>
          <p:cNvGraphicFramePr/>
          <p:nvPr/>
        </p:nvGraphicFramePr>
        <p:xfrm>
          <a:off x="1905000" y="128380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2276975"/>
                <a:gridCol w="2276975"/>
                <a:gridCol w="785175"/>
              </a:tblGrid>
              <a:tr h="38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First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Terrence  "TJ"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Allen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Douglas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Bonner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Raymond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Fernandez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Carlos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CW3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Colby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Johnson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Nicholas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Lind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Steve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McCoy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Enrique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Mosqueda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Larry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Parrotte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Ashley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Rivera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Benjamin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Siegel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Dylan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Temple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2</a:t>
            </a:r>
            <a:endParaRPr/>
          </a:p>
        </p:txBody>
      </p:sp>
      <p:graphicFrame>
        <p:nvGraphicFramePr>
          <p:cNvPr id="164" name="Google Shape;164;p31"/>
          <p:cNvGraphicFramePr/>
          <p:nvPr/>
        </p:nvGraphicFramePr>
        <p:xfrm>
          <a:off x="2286000" y="146304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1787600"/>
                <a:gridCol w="1787600"/>
                <a:gridCol w="616400"/>
              </a:tblGrid>
              <a:tr h="27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First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William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Benitez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Roni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Brown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Kale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Gallo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Jonathan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Hale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Jamison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Kelly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DongDong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Liu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Ian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McGrady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Josiah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Markuz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Robinson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Elisa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Sun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Tomaselli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MAJ</a:t>
                      </a:r>
                      <a:endParaRPr/>
                    </a:p>
                  </a:txBody>
                  <a:tcPr marT="9525" marB="45725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3</a:t>
            </a:r>
            <a:endParaRPr/>
          </a:p>
        </p:txBody>
      </p:sp>
      <p:graphicFrame>
        <p:nvGraphicFramePr>
          <p:cNvPr id="170" name="Google Shape;170;p32"/>
          <p:cNvGraphicFramePr/>
          <p:nvPr/>
        </p:nvGraphicFramePr>
        <p:xfrm>
          <a:off x="2286000" y="146304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1845775"/>
                <a:gridCol w="1845775"/>
                <a:gridCol w="636475"/>
              </a:tblGrid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First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Bishop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Adriana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Canedo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David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Gibbons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Nathan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Hodge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Richard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Kovach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Antonio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Magana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Justin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McLellan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William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Gabriel "Alex"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Santiago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Brandon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Taylor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T="9525" marB="45725" marR="9525" marL="9525" anchor="b"/>
                </a:tc>
              </a:tr>
              <a:tr h="2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Cory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Wingate</a:t>
                      </a:r>
                      <a:endParaRPr/>
                    </a:p>
                  </a:txBody>
                  <a:tcPr marT="9525" marB="45725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T="9525" marB="45725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Icebreaker – Human Bingo</a:t>
            </a:r>
            <a:endParaRPr/>
          </a:p>
        </p:txBody>
      </p:sp>
      <p:sp>
        <p:nvSpPr>
          <p:cNvPr id="176" name="Google Shape;176;p33"/>
          <p:cNvSpPr txBox="1"/>
          <p:nvPr/>
        </p:nvSpPr>
        <p:spPr>
          <a:xfrm>
            <a:off x="311700" y="1505700"/>
            <a:ext cx="8439377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3 Bingos win a prize!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win, you must be able to correctly identify the people on your card.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869" y="89252"/>
            <a:ext cx="8826657" cy="496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Intros</a:t>
            </a:r>
            <a:endParaRPr/>
          </a:p>
        </p:txBody>
      </p:sp>
      <p:sp>
        <p:nvSpPr>
          <p:cNvPr id="187" name="Google Shape;187;p35"/>
          <p:cNvSpPr txBox="1"/>
          <p:nvPr/>
        </p:nvSpPr>
        <p:spPr>
          <a:xfrm>
            <a:off x="311700" y="1505700"/>
            <a:ext cx="7420617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you do in the Army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you're coming from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experience level with AI/Tech/Coding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4276"/>
              <a:buFont typeface="Play"/>
              <a:buNone/>
            </a:pPr>
            <a:r>
              <a:rPr lang="en">
                <a:solidFill>
                  <a:schemeClr val="dk1"/>
                </a:solidFill>
              </a:rPr>
              <a:t>Expectations</a:t>
            </a:r>
            <a:r>
              <a:rPr lang="en"/>
              <a:t>ations</a:t>
            </a:r>
            <a:br>
              <a:rPr lang="en"/>
            </a:br>
            <a:endParaRPr/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400"/>
              <a:t>College courses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400"/>
              <a:t>Python experience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2200"/>
              <a:t>DevOps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2200"/>
              <a:t>Cloud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400"/>
              <a:t>Garbage in, garbage out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2200"/>
              <a:t>Do the material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2400"/>
              <a:t>Optional exercises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400"/>
              <a:t>Academic Freedom</a:t>
            </a:r>
            <a:endParaRPr/>
          </a:p>
        </p:txBody>
      </p:sp>
      <p:sp>
        <p:nvSpPr>
          <p:cNvPr id="194" name="Google Shape;194;p36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200"/>
              <a:t>What do </a:t>
            </a:r>
            <a:r>
              <a:rPr i="1" lang="en" sz="2200"/>
              <a:t>you</a:t>
            </a:r>
            <a:r>
              <a:rPr lang="en" sz="2200"/>
              <a:t> want out of this?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Laptop Issues?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AI2C Technician's Cohort 6</a:t>
            </a:r>
            <a:br>
              <a:rPr lang="en"/>
            </a:br>
            <a:r>
              <a:rPr lang="en"/>
              <a:t>Lesson 1 – Python Basics</a:t>
            </a:r>
            <a:br>
              <a:rPr lang="en"/>
            </a:br>
            <a:endParaRPr/>
          </a:p>
        </p:txBody>
      </p:sp>
      <p:sp>
        <p:nvSpPr>
          <p:cNvPr id="205" name="Google Shape;205;p3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Let’s download Python</a:t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If you haven’t already… go to python.org and download the latest release of Python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338" y="2094496"/>
            <a:ext cx="6808053" cy="3049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Verify the download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628650" y="1063278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71481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Open a command prompt and type in “python”.  Your terminal should indicate it is running Python with the “&gt;&gt;&gt;” </a:t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1481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Run a few basic commands.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x =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x+2</a:t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48133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Text&#10;&#10;AI-generated content may be incorrect." id="219" name="Google Shape;219;p40"/>
          <p:cNvPicPr preferRelativeResize="0"/>
          <p:nvPr/>
        </p:nvPicPr>
        <p:blipFill rotWithShape="1">
          <a:blip r:embed="rId3">
            <a:alphaModFix/>
          </a:blip>
          <a:srcRect b="49830" l="1" r="18696" t="984"/>
          <a:stretch/>
        </p:blipFill>
        <p:spPr>
          <a:xfrm>
            <a:off x="1552175" y="1705856"/>
            <a:ext cx="6277559" cy="214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Interactive Python</a:t>
            </a:r>
            <a:endParaRPr/>
          </a:p>
        </p:txBody>
      </p:sp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628650" y="1063278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Running Python in the terminal like this is great way to interactively see what individual lines of code do but…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Oftentimes we want to run dozens (or hundreds) of lines of code at a time.  For this, we want to write python scripts.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"/>
            </a:br>
            <a:r>
              <a:rPr lang="en"/>
              <a:t>It would also be nice if there was software that would help us write and manage code, have useful plugins, be integrated with AI, etc…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We need an </a:t>
            </a:r>
            <a:r>
              <a:rPr b="1" lang="en"/>
              <a:t>Integrated Development Environment (IDE)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Integrated Development Environments (IDE)</a:t>
            </a:r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628650" y="1063278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There are many IDEs that can help you write and manage code. 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descr="Visual Studio Code - Wikipedia" id="232" name="Google Shape;2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906" y="1745176"/>
            <a:ext cx="1653148" cy="165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3055" y="1798964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9581" y="1506071"/>
            <a:ext cx="2463561" cy="213135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28650" y="3980329"/>
            <a:ext cx="2073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/>
          </a:p>
        </p:txBody>
      </p:sp>
      <p:sp>
        <p:nvSpPr>
          <p:cNvPr id="236" name="Google Shape;236;p42"/>
          <p:cNvSpPr txBox="1"/>
          <p:nvPr/>
        </p:nvSpPr>
        <p:spPr>
          <a:xfrm>
            <a:off x="3948526" y="3980329"/>
            <a:ext cx="11066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/>
          </a:p>
        </p:txBody>
      </p:sp>
      <p:sp>
        <p:nvSpPr>
          <p:cNvPr id="237" name="Google Shape;237;p42"/>
          <p:cNvSpPr txBox="1"/>
          <p:nvPr/>
        </p:nvSpPr>
        <p:spPr>
          <a:xfrm>
            <a:off x="7028036" y="3921837"/>
            <a:ext cx="13008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628650" y="1063278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 use VS Code in AI2C, and you will use it for classes at CMU.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VS Code has great version control management built in and many great plug-ins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Take a few minutes to download VS Code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43" name="Google Shape;243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Visual Studio Code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628650" y="1455163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Give a quick tutorial on 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Creating a Folder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Creating and running a Python Script in the VS Code terminal.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49" name="Google Shape;249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Running code in VS Code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628650" y="1455163"/>
            <a:ext cx="7886700" cy="40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Go to https://github.com and setup a github account.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Also download git at https://git-scm.com.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We will have classes on how to use github and git later, but you will need a github account and git to pull in-class exercises and solutions. 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55" name="Google Shape;255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Saving Code on the Internet and version control?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So what is Python?</a:t>
            </a:r>
            <a:endParaRPr/>
          </a:p>
        </p:txBody>
      </p:sp>
      <p:sp>
        <p:nvSpPr>
          <p:cNvPr id="261" name="Google Shape;261;p4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Python is a high-level, interpreted programming language known for its </a:t>
            </a:r>
            <a:r>
              <a:rPr b="1" lang="en"/>
              <a:t>simplicity, readability, </a:t>
            </a:r>
            <a:r>
              <a:rPr lang="en"/>
              <a:t>and </a:t>
            </a:r>
            <a:r>
              <a:rPr b="1" lang="en"/>
              <a:t>versatility.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Python is widely used by beginners and professionals alike.  It can be used for a wide range of applications from web development, data science, automation, and artificial intelligence.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 u="sng"/>
              <a:t>Data and datatypes</a:t>
            </a:r>
            <a:endParaRPr/>
          </a:p>
        </p:txBody>
      </p:sp>
      <p:sp>
        <p:nvSpPr>
          <p:cNvPr id="267" name="Google Shape;267;p4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This is important.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Computers classify data into different datatypes.  For instance: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6 is an </a:t>
            </a:r>
            <a:r>
              <a:rPr b="1" lang="en"/>
              <a:t>integer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25.5 is a floating point number (</a:t>
            </a:r>
            <a:r>
              <a:rPr b="1" lang="en"/>
              <a:t>float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“Hello” is a </a:t>
            </a:r>
            <a:r>
              <a:rPr b="1" lang="en"/>
              <a:t>string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b="1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Python will interact with different datatypes differently.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 u="sng"/>
              <a:t>Datatypes</a:t>
            </a:r>
            <a:endParaRPr/>
          </a:p>
        </p:txBody>
      </p:sp>
      <p:sp>
        <p:nvSpPr>
          <p:cNvPr id="273" name="Google Shape;273;p4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Give examples of the following: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Integers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Floats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Strings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List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Tuple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Dictionary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Set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Immutable vs Mutable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Integers - whole numbers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+, -, *, /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**, //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PEMDAS</a:t>
            </a:r>
            <a:endParaRPr sz="1700"/>
          </a:p>
        </p:txBody>
      </p:sp>
      <p:sp>
        <p:nvSpPr>
          <p:cNvPr id="285" name="Google Shape;285;p50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Floats - decimal numbers</a:t>
            </a:r>
            <a:endParaRPr b="1"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Strings - collection of characters held by single/double quotes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Multiline strings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Escape characters (“\”)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Concatenation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Indexing/Slicing</a:t>
            </a:r>
            <a:endParaRPr sz="1700"/>
          </a:p>
        </p:txBody>
      </p:sp>
      <p:sp>
        <p:nvSpPr>
          <p:cNvPr id="292" name="Google Shape;292;p51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Boolean - True/False or 1/0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==, !=, &gt; &lt;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bool (“My String”) bool(“”)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Not, And, Or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Lists - Ordered, mutable collection of elements that do not have to be the same type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[], list(), list comprehension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Indexing, slicing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Concatenation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Iterable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b="1" sz="1700"/>
          </a:p>
        </p:txBody>
      </p:sp>
      <p:sp>
        <p:nvSpPr>
          <p:cNvPr id="299" name="Google Shape;299;p5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Dictionaries - unordered, mutable collection of key-value pairs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{}, dict()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.keys(), .values(), .items()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Adding an item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del</a:t>
            </a:r>
            <a:endParaRPr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305" name="Google Shape;305;p5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Tuples - an immutable collection of ordered items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(), tuple()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Indexing, Slicing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Unpacking tuples</a:t>
            </a:r>
            <a:endParaRPr sz="1700"/>
          </a:p>
        </p:txBody>
      </p:sp>
      <p:sp>
        <p:nvSpPr>
          <p:cNvPr id="306" name="Google Shape;306;p5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lang="en" sz="1700"/>
              <a:t>Sets - an unordered, mutable collection of unique, immutable items</a:t>
            </a:r>
            <a:endParaRPr b="1" sz="1700"/>
          </a:p>
          <a:p>
            <a:pPr indent="-3365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{}, set()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.add(), .update()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.discard()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Length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/>
              <a:t>Union, Difference, Intersection</a:t>
            </a:r>
            <a:endParaRPr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Data Type Conversion (Casting)</a:t>
            </a:r>
            <a:endParaRPr/>
          </a:p>
        </p:txBody>
      </p:sp>
      <p:sp>
        <p:nvSpPr>
          <p:cNvPr id="313" name="Google Shape;313;p5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There are predefined functions we can use to convert data from one type to another: </a:t>
            </a:r>
            <a:r>
              <a:rPr b="1" lang="en">
                <a:solidFill>
                  <a:srgbClr val="008080"/>
                </a:solidFill>
              </a:rPr>
              <a:t>int</a:t>
            </a:r>
            <a:r>
              <a:rPr b="1" lang="en"/>
              <a:t>()</a:t>
            </a:r>
            <a:r>
              <a:rPr lang="en"/>
              <a:t>, </a:t>
            </a:r>
            <a:r>
              <a:rPr b="1" lang="en">
                <a:solidFill>
                  <a:srgbClr val="008080"/>
                </a:solidFill>
              </a:rPr>
              <a:t>float</a:t>
            </a:r>
            <a:r>
              <a:rPr b="1" lang="en"/>
              <a:t>()</a:t>
            </a:r>
            <a:r>
              <a:rPr lang="en"/>
              <a:t>, and </a:t>
            </a:r>
            <a:r>
              <a:rPr b="1" lang="en">
                <a:solidFill>
                  <a:srgbClr val="008080"/>
                </a:solidFill>
              </a:rPr>
              <a:t>str</a:t>
            </a:r>
            <a:r>
              <a:rPr b="1" lang="en"/>
              <a:t>()</a:t>
            </a:r>
            <a:r>
              <a:rPr lang="en"/>
              <a:t>.  Here are examples with </a:t>
            </a:r>
            <a:r>
              <a:rPr b="1" lang="en">
                <a:solidFill>
                  <a:srgbClr val="008080"/>
                </a:solidFill>
              </a:rPr>
              <a:t>int</a:t>
            </a:r>
            <a:r>
              <a:rPr b="1" lang="en"/>
              <a:t>()</a:t>
            </a:r>
            <a:r>
              <a:rPr lang="en"/>
              <a:t>: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 1</a:t>
            </a:r>
            <a:endParaRPr/>
          </a:p>
        </p:txBody>
      </p:sp>
      <p:sp>
        <p:nvSpPr>
          <p:cNvPr id="320" name="Google Shape;320;p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Copy and run the following code.  What did it do?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num1 =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num2 = 15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print(“The sum is”, num1+num2)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num3 = “10”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num4 = “15”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print(“The sum is”, num3+num4)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1" lang="en" u="sng"/>
              <a:t>Variables</a:t>
            </a:r>
            <a:endParaRPr/>
          </a:p>
        </p:txBody>
      </p:sp>
      <p:sp>
        <p:nvSpPr>
          <p:cNvPr id="326" name="Google Shape;326;p5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 variable is a named location in memory that stores a value.  Every variable has a </a:t>
            </a:r>
            <a:r>
              <a:rPr b="1" lang="en"/>
              <a:t>name, </a:t>
            </a:r>
            <a:r>
              <a:rPr lang="en"/>
              <a:t>a </a:t>
            </a:r>
            <a:r>
              <a:rPr b="1" lang="en"/>
              <a:t>value</a:t>
            </a:r>
            <a:r>
              <a:rPr lang="en"/>
              <a:t>, and a </a:t>
            </a:r>
            <a:r>
              <a:rPr b="1" lang="en" u="sng"/>
              <a:t>type</a:t>
            </a:r>
            <a:r>
              <a:rPr lang="en"/>
              <a:t>.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age = 27        		This variable’s name is “age”, it’s value is 					27, and its type is an integer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Occupation = “AI Tech”	This variable’s name is “Occupation”, it’s 					value is, “AI Tech”, and it is a string.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Variable Naming Rules</a:t>
            </a:r>
            <a:endParaRPr/>
          </a:p>
        </p:txBody>
      </p:sp>
      <p:sp>
        <p:nvSpPr>
          <p:cNvPr id="332" name="Google Shape;332;p5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You can name a variable anything but…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Your variable name can’t start with a number.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Your variable name cannot include special characters (&amp;*^%!)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Your variable name cannot have any spaces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Your variable name cannot be a python keyword (for, if, else…)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	- You’ll learn more keywords as you learn the language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Variable Naming Best Practices and Conventions</a:t>
            </a:r>
            <a:endParaRPr/>
          </a:p>
        </p:txBody>
      </p:sp>
      <p:sp>
        <p:nvSpPr>
          <p:cNvPr id="338" name="Google Shape;338;p58"/>
          <p:cNvSpPr txBox="1"/>
          <p:nvPr>
            <p:ph idx="1" type="body"/>
          </p:nvPr>
        </p:nvSpPr>
        <p:spPr>
          <a:xfrm>
            <a:off x="628650" y="110027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Your variable name should describe something about the data.  Make the name make sense.</a:t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use_snake_case_for_variables</a:t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UseCapWordsForClassNames</a:t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Use ALLCAPs for constants</a:t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344" name="Google Shape;344;p59"/>
          <p:cNvSpPr txBox="1"/>
          <p:nvPr>
            <p:ph idx="1" type="body"/>
          </p:nvPr>
        </p:nvSpPr>
        <p:spPr>
          <a:xfrm>
            <a:off x="628650" y="110027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A function is a </a:t>
            </a:r>
            <a:r>
              <a:rPr b="1" lang="en"/>
              <a:t>named</a:t>
            </a:r>
            <a:r>
              <a:rPr lang="en"/>
              <a:t>, </a:t>
            </a:r>
            <a:r>
              <a:rPr b="1" lang="en"/>
              <a:t>reusable</a:t>
            </a:r>
            <a:r>
              <a:rPr lang="en"/>
              <a:t> block of code that performs a specified task.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There are some functions that are predefined by the Python Language. We will be using built-in Python functions to explore and learn the programming language.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Examples of these built-in functions are…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print(), len(), type(), sum(), max()…</a:t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about functions</a:t>
            </a:r>
            <a:endParaRPr/>
          </a:p>
        </p:txBody>
      </p:sp>
      <p:sp>
        <p:nvSpPr>
          <p:cNvPr id="350" name="Google Shape;350;p60"/>
          <p:cNvSpPr txBox="1"/>
          <p:nvPr>
            <p:ph idx="1" type="body"/>
          </p:nvPr>
        </p:nvSpPr>
        <p:spPr>
          <a:xfrm>
            <a:off x="628650" y="110027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Functions have a name… they take an argument… and they return a result.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In math, we have the sine function.  What arguments does the sin() function take?  What does the sine function return?</a:t>
            </a:r>
            <a:br>
              <a:rPr lang="en"/>
            </a:br>
            <a:br>
              <a:rPr lang="en"/>
            </a:br>
            <a:r>
              <a:rPr lang="en"/>
              <a:t>Much like this, built-in python functions may require a specific datatype as an argument, and they will return a specific datatype.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Operators</a:t>
            </a:r>
            <a:endParaRPr/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https://docs.python.org/3/library/stdtypes.html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/>
        </p:nvGraphicFramePr>
        <p:xfrm>
          <a:off x="480060" y="14401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{20BDE71D-A5DA-4731-8206-4FC7E790C503}</a:tableStyleId>
              </a:tblPr>
              <a:tblGrid>
                <a:gridCol w="685800"/>
                <a:gridCol w="17145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T="34300" marB="34300" marR="67550" marL="67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T="34300" marB="34300" marR="67550" marL="675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b="0" i="1" sz="140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8" name="Google Shape;358;p61"/>
          <p:cNvGraphicFramePr/>
          <p:nvPr/>
        </p:nvGraphicFramePr>
        <p:xfrm>
          <a:off x="5760720" y="1028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{20BDE71D-A5DA-4731-8206-4FC7E790C503}</a:tableStyleId>
              </a:tblPr>
              <a:tblGrid>
                <a:gridCol w="754375"/>
                <a:gridCol w="18516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T="34300" marB="34300" marR="67550" marL="67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T="34300" marB="34300" marR="67550" marL="675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" name="Google Shape;359;p61"/>
          <p:cNvGraphicFramePr/>
          <p:nvPr/>
        </p:nvGraphicFramePr>
        <p:xfrm>
          <a:off x="3074670" y="1020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{20BDE71D-A5DA-4731-8206-4FC7E790C503}</a:tableStyleId>
              </a:tblPr>
              <a:tblGrid>
                <a:gridCol w="754375"/>
                <a:gridCol w="17145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T="34300" marB="34300" marR="67550" marL="67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T="34300" marB="34300" marR="67550" marL="675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0" lang="en" sz="140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b="0" i="0" sz="140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4300" marL="3430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/>
                    </a:p>
                  </a:txBody>
                  <a:tcPr marT="34300" marB="34300" marR="34300" marL="34300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548640" y="1028700"/>
            <a:ext cx="2263140" cy="3429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143250" y="608575"/>
            <a:ext cx="2331720" cy="3429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829300" y="617220"/>
            <a:ext cx="2468880" cy="3429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20" y="3360420"/>
            <a:ext cx="2537460" cy="3429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/>
        </p:nvGraphicFramePr>
        <p:xfrm>
          <a:off x="5692140" y="3771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{20BDE71D-A5DA-4731-8206-4FC7E790C503}</a:tableStyleId>
              </a:tblPr>
              <a:tblGrid>
                <a:gridCol w="754375"/>
                <a:gridCol w="19202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T="34300" marB="34300" marR="67550" marL="67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T="34300" marB="34300" marR="67550" marL="675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b="0" i="0" sz="140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4300" marB="34300" marR="33775" marL="337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40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/>
                    </a:p>
                  </a:txBody>
                  <a:tcPr marT="34300" marB="34300" marR="33775" marL="33775" anchor="b">
                    <a:lnL cap="flat" cmpd="sng" w="12700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646394"/>
            <a:ext cx="2372629" cy="122637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Order of Operations</a:t>
            </a:r>
            <a:endParaRPr/>
          </a:p>
        </p:txBody>
      </p:sp>
      <p:sp>
        <p:nvSpPr>
          <p:cNvPr id="372" name="Google Shape;372;p62"/>
          <p:cNvSpPr txBox="1"/>
          <p:nvPr>
            <p:ph idx="1" type="body"/>
          </p:nvPr>
        </p:nvSpPr>
        <p:spPr>
          <a:xfrm>
            <a:off x="381000" y="1097756"/>
            <a:ext cx="8382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The order of operations in Python is essentially the same as in math you are already familiar with: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Expressions in parentheses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Exponentiation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Multiplication, division, integer division, and modulo (remainder)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AutoNum type="arabicPeriod"/>
            </a:pPr>
            <a:r>
              <a:rPr lang="en"/>
              <a:t>Addition and subtraction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Operators with the same precedence (except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"/>
              <a:t>) are evaluated from left-to-right.  (In algebra we say they are left-associative.)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>
            <p:ph type="title"/>
          </p:nvPr>
        </p:nvSpPr>
        <p:spPr>
          <a:xfrm>
            <a:off x="3172065" y="213338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Take a Break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The built-in functions aren’t enough…</a:t>
            </a:r>
            <a:endParaRPr/>
          </a:p>
        </p:txBody>
      </p:sp>
      <p:sp>
        <p:nvSpPr>
          <p:cNvPr id="385" name="Google Shape;385;p64"/>
          <p:cNvSpPr txBox="1"/>
          <p:nvPr>
            <p:ph idx="1" type="body"/>
          </p:nvPr>
        </p:nvSpPr>
        <p:spPr>
          <a:xfrm>
            <a:off x="381000" y="1097756"/>
            <a:ext cx="8382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You can import more functionality into Python without downloading anything else… for this you use a standard </a:t>
            </a:r>
            <a:r>
              <a:rPr b="1" lang="en"/>
              <a:t>module.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To use a module’s functions, you must first import the module.  Add “import </a:t>
            </a:r>
            <a:r>
              <a:rPr i="1" lang="en"/>
              <a:t>module_name</a:t>
            </a:r>
            <a:r>
              <a:rPr lang="en"/>
              <a:t>” at the top of your program.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For instance…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import math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math.sqrt(100)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</a:t>
            </a:r>
            <a:endParaRPr/>
          </a:p>
        </p:txBody>
      </p:sp>
      <p:sp>
        <p:nvSpPr>
          <p:cNvPr id="392" name="Google Shape;392;p65"/>
          <p:cNvSpPr txBox="1"/>
          <p:nvPr>
            <p:ph idx="1" type="body"/>
          </p:nvPr>
        </p:nvSpPr>
        <p:spPr>
          <a:xfrm>
            <a:off x="381000" y="1097756"/>
            <a:ext cx="8382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In groups of 3-4, research the following standard modules.  What functions do these modules provide to Python?  What are some use cases?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Math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Random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Statistics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JSON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Http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Urllib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Ice Breaker: The Pizza Argument</a:t>
            </a:r>
            <a:endParaRPr/>
          </a:p>
        </p:txBody>
      </p:sp>
      <p:sp>
        <p:nvSpPr>
          <p:cNvPr id="398" name="Google Shape;398;p6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A Pittsburgh pizza shop is having a two-for-one deal. You can get two small (12”) pizzas for $9.99. In contrast, a large pizza (16”) costs $9.99.  Which one is the better deal (yields more pizza)?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What is your first intuition?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With a partner, write Python code to answer this question.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Use the math module (math.pi) when calculating the area of the pizzas.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practice</a:t>
            </a:r>
            <a:endParaRPr/>
          </a:p>
        </p:txBody>
      </p:sp>
      <p:sp>
        <p:nvSpPr>
          <p:cNvPr id="404" name="Google Shape;404;p6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Open a new folder in VS Code.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"/>
            </a:br>
            <a:r>
              <a:rPr lang="en"/>
              <a:t>Open a terminal in VS Code (Ctrl + ‘~’) and type the following command.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git clone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https://github.com/shafe123/AI2C-Prereqs.git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Work through Lesson01Practice.py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Final Exercise</a:t>
            </a:r>
            <a:endParaRPr/>
          </a:p>
        </p:txBody>
      </p:sp>
      <p:sp>
        <p:nvSpPr>
          <p:cNvPr id="410" name="Google Shape;410;p6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Copy the lyrics of your favorite song into a string variable.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Determine all the unique words in the song and the number of times they occur.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/>
              <a:t>*DISCLAIMER*  You will not be able to do this with only what you have been taught so far.  The intent is that you try to think through this for a little bit and inevitably look up a solution.  This exposes you to some of the things we are going to learn later 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5 different solutions for this are given in Lesson01FinalProblemSolution.py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